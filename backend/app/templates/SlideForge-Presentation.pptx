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625602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with client info.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Outcome-focused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 context from prompt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fit, avoid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 dive into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data recommended.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Differentiators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action items before the final thank-you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4.xml"/><Relationship Id="rId6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841248"/>
            <a:ext cx="6217920" cy="74432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8952" y="3154680"/>
            <a:ext cx="81381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800" b="1">
                <a:solidFill>
                  <a:srgbClr val="F1F5F9"/>
                </a:solidFill>
                <a:latin typeface="Aptos Display"/>
              </a:defRPr>
            </a:pPr>
            <a:r>
              <a:t>Client Name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4498848"/>
            <a:ext cx="1280160" cy="54864"/>
          </a:xfrm>
          <a:prstGeom prst="rect">
            <a:avLst/>
          </a:prstGeom>
          <a:solidFill>
            <a:srgbClr val="F26A5F"/>
          </a:solidFill>
          <a:ln>
            <a:solidFill>
              <a:srgbClr val="F2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4727448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9FADBD"/>
                </a:solidFill>
                <a:latin typeface="Aptos"/>
              </a:defRPr>
            </a:pPr>
            <a:r>
              <a:t>Strategic financing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5568696"/>
            <a:ext cx="8412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b="0" sz="1800">
                <a:solidFill>
                  <a:srgbClr val="F1F5F9"/>
                </a:solidFill>
                <a:latin typeface="Aptos"/>
              </a:rPr>
              <a:t>• Prepared for Client Name</a:t>
            </a:r>
          </a:p>
          <a:p>
            <a:pPr>
              <a:spcBef>
                <a:spcPts val="800"/>
              </a:spcBef>
            </a:pPr>
            <a:r>
              <a:rPr b="0" sz="1800">
                <a:solidFill>
                  <a:srgbClr val="F1F5F9"/>
                </a:solidFill>
                <a:latin typeface="Aptos"/>
              </a:rPr>
              <a:t>• June 2026</a:t>
            </a:r>
          </a:p>
        </p:txBody>
      </p:sp>
      <p:pic>
        <p:nvPicPr>
          <p:cNvPr id="7" name="Picture 6" descr="ci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4420" y="164592"/>
            <a:ext cx="914400" cy="5961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2057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26A5F"/>
                </a:solidFill>
                <a:latin typeface="Aptos Display"/>
              </a:defRPr>
            </a:pPr>
            <a:r>
              <a:t>CORE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2651760"/>
            <a:ext cx="135331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000" b="1">
                <a:solidFill>
                  <a:srgbClr val="F1F5F9"/>
                </a:solidFill>
                <a:latin typeface="Aptos Display"/>
              </a:defRPr>
            </a:pPr>
            <a:r>
              <a:t>Citi can unlock flexible growth capital while preserving strategic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5440680"/>
            <a:ext cx="1554480" cy="54864"/>
          </a:xfrm>
          <a:prstGeom prst="rect">
            <a:avLst/>
          </a:prstGeom>
          <a:solidFill>
            <a:srgbClr val="F26A5F"/>
          </a:solidFill>
          <a:ln>
            <a:solidFill>
              <a:srgbClr val="F2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571500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9FADBD"/>
                </a:solidFill>
                <a:latin typeface="Aptos"/>
              </a:defRPr>
            </a:pPr>
            <a:r>
              <a:t>$500M financing opportunity</a:t>
            </a:r>
          </a:p>
        </p:txBody>
      </p:sp>
      <p:pic>
        <p:nvPicPr>
          <p:cNvPr id="6" name="Picture 5" descr="ci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420" y="164592"/>
            <a:ext cx="914400" cy="5961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75320" cy="9144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26A5F"/>
                </a:solidFill>
                <a:latin typeface="Aptos Display"/>
              </a:defRPr>
            </a:pPr>
            <a: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920240"/>
            <a:ext cx="7223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F1F5F9"/>
                </a:solidFill>
                <a:latin typeface="Aptos Display"/>
              </a:defRPr>
            </a:pPr>
            <a: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749039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9FADBD"/>
                </a:solidFill>
                <a:latin typeface="Aptos"/>
              </a:defRPr>
            </a:pPr>
            <a:r>
              <a:t>Client context and market backdrop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4663440"/>
            <a:ext cx="65836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b="0" sz="1800">
                <a:solidFill>
                  <a:srgbClr val="F1F5F9"/>
                </a:solidFill>
                <a:latin typeface="Aptos"/>
              </a:rPr>
              <a:t>• Client seeking growth capital</a:t>
            </a:r>
          </a:p>
          <a:p>
            <a:pPr>
              <a:spcBef>
                <a:spcPts val="800"/>
              </a:spcBef>
            </a:pPr>
            <a:r>
              <a:rPr b="0" sz="1800">
                <a:solidFill>
                  <a:srgbClr val="F1F5F9"/>
                </a:solidFill>
                <a:latin typeface="Aptos"/>
              </a:rPr>
              <a:t>• Strong market position</a:t>
            </a:r>
          </a:p>
          <a:p>
            <a:pPr>
              <a:spcBef>
                <a:spcPts val="800"/>
              </a:spcBef>
            </a:pPr>
            <a:r>
              <a:rPr b="0" sz="1800">
                <a:solidFill>
                  <a:srgbClr val="F1F5F9"/>
                </a:solidFill>
                <a:latin typeface="Aptos"/>
              </a:rPr>
              <a:t>• Existing banking relationship since 2022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463040"/>
            <a:ext cx="6629400" cy="6355080"/>
          </a:xfrm>
          <a:prstGeom prst="rect">
            <a:avLst/>
          </a:prstGeom>
        </p:spPr>
      </p:pic>
      <p:pic>
        <p:nvPicPr>
          <p:cNvPr id="8" name="Picture 7" descr="ci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4420" y="164592"/>
            <a:ext cx="914400" cy="5961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603504"/>
            <a:ext cx="147309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03B70"/>
                </a:solidFill>
                <a:latin typeface="Aptos Display"/>
              </a:defRPr>
            </a:pPr>
            <a:r>
              <a:t>Citi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463040"/>
            <a:ext cx="1280160" cy="45720"/>
          </a:xfrm>
          <a:prstGeom prst="rect">
            <a:avLst/>
          </a:prstGeom>
          <a:solidFill>
            <a:srgbClr val="EE2A24"/>
          </a:solidFill>
          <a:ln>
            <a:solidFill>
              <a:srgbClr val="EE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" y="1874520"/>
            <a:ext cx="4668865" cy="626364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24712" y="224028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BE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774" y="2376342"/>
            <a:ext cx="294802" cy="294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" y="3017520"/>
            <a:ext cx="393734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03B70"/>
                </a:solidFill>
                <a:latin typeface="Aptos Display"/>
              </a:defRPr>
            </a:pPr>
            <a:r>
              <a:t>Flexible Facility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3520440"/>
            <a:ext cx="3937345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b="0" sz="1600">
                <a:solidFill>
                  <a:srgbClr val="5B6770"/>
                </a:solidFill>
                <a:latin typeface="Aptos"/>
              </a:rPr>
              <a:t>Senior secured credit facility aligned to growth needs.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93577" y="1874520"/>
            <a:ext cx="4668865" cy="626364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9337" y="224028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BE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400" y="2376342"/>
            <a:ext cx="294802" cy="294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9337" y="3017520"/>
            <a:ext cx="393734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03B70"/>
                </a:solidFill>
                <a:latin typeface="Aptos Display"/>
              </a:defRPr>
            </a:pPr>
            <a:r>
              <a:t>Sustainable 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9337" y="3520440"/>
            <a:ext cx="3937345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b="0" sz="1600">
                <a:solidFill>
                  <a:srgbClr val="5B6770"/>
                </a:solidFill>
                <a:latin typeface="Aptos"/>
              </a:rPr>
              <a:t>Green financing structure where eligible.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28202" y="1874520"/>
            <a:ext cx="4668865" cy="626364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193962" y="224028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BE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0025" y="2376342"/>
            <a:ext cx="294802" cy="2948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193962" y="3017520"/>
            <a:ext cx="393734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03B70"/>
                </a:solidFill>
                <a:latin typeface="Aptos Display"/>
              </a:defRPr>
            </a:pPr>
            <a:r>
              <a:t>Dedicated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93962" y="3520440"/>
            <a:ext cx="3937345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b="0" sz="1600">
                <a:solidFill>
                  <a:srgbClr val="5B6770"/>
                </a:solidFill>
                <a:latin typeface="Aptos"/>
              </a:rPr>
              <a:t>Coordinated coverage across product and relationship teams.</a:t>
            </a:r>
          </a:p>
        </p:txBody>
      </p:sp>
      <p:pic>
        <p:nvPicPr>
          <p:cNvPr id="19" name="Picture 18" descr="citi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84420" y="164592"/>
            <a:ext cx="914400" cy="5961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6256020" cy="9144000"/>
          </a:xfrm>
          <a:prstGeom prst="rect">
            <a:avLst/>
          </a:prstGeom>
          <a:solidFill>
            <a:srgbClr val="0A162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135128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8AC4EC"/>
                </a:solidFill>
                <a:latin typeface="Aptos Display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135128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Market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87930" y="4617720"/>
            <a:ext cx="1280160" cy="45720"/>
          </a:xfrm>
          <a:prstGeom prst="rect">
            <a:avLst/>
          </a:prstGeom>
          <a:solidFill>
            <a:srgbClr val="EE2A24"/>
          </a:solidFill>
          <a:ln>
            <a:solidFill>
              <a:srgbClr val="EE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00600"/>
            <a:ext cx="135128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ptos"/>
              </a:defRPr>
            </a:pPr>
            <a:r>
              <a:t>Industry landscape</a:t>
            </a:r>
          </a:p>
        </p:txBody>
      </p:sp>
      <p:pic>
        <p:nvPicPr>
          <p:cNvPr id="8" name="Picture 7" descr="ci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4420" y="164592"/>
            <a:ext cx="914400" cy="5961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2148840"/>
            <a:ext cx="1473811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0" b="1">
                <a:solidFill>
                  <a:srgbClr val="EE2A24"/>
                </a:solidFill>
                <a:latin typeface="Aptos Display"/>
              </a:defRPr>
            </a:pPr>
            <a:r>
              <a:t>34%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4251960"/>
            <a:ext cx="118669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F1F5F9"/>
                </a:solidFill>
                <a:latin typeface="Aptos Display"/>
              </a:defRPr>
            </a:pPr>
            <a:r>
              <a:t>FY2025 EBITDA margin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5257800"/>
            <a:ext cx="111353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0">
                <a:solidFill>
                  <a:srgbClr val="9FADBD"/>
                </a:solidFill>
                <a:latin typeface="Aptos"/>
              </a:defRPr>
            </a:pPr>
            <a:r>
              <a:t>Financial Analysis</a:t>
            </a:r>
          </a:p>
        </p:txBody>
      </p:sp>
      <p:pic>
        <p:nvPicPr>
          <p:cNvPr id="5" name="Picture 4" descr="ci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420" y="164592"/>
            <a:ext cx="914400" cy="5961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603504"/>
            <a:ext cx="147309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03B70"/>
                </a:solidFill>
                <a:latin typeface="Aptos Display"/>
              </a:defRPr>
            </a:pPr>
            <a:r>
              <a:t>Platform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463040"/>
            <a:ext cx="1280160" cy="45720"/>
          </a:xfrm>
          <a:prstGeom prst="rect">
            <a:avLst/>
          </a:prstGeom>
          <a:solidFill>
            <a:srgbClr val="EE2A24"/>
          </a:solidFill>
          <a:ln>
            <a:solidFill>
              <a:srgbClr val="EE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" y="2011680"/>
          <a:ext cx="1473811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9058"/>
                <a:gridCol w="7369058"/>
              </a:tblGrid>
              <a:tr h="83439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Client Impact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B70"/>
                          </a:solidFill>
                          <a:latin typeface="Aptos"/>
                        </a:defRPr>
                      </a:pPr>
                      <a:r>
                        <a:t>Global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5B6770"/>
                          </a:solidFill>
                          <a:latin typeface="Aptos"/>
                        </a:defRPr>
                      </a:pPr>
                      <a:r>
                        <a:t>Distribution in 95+ countries</a:t>
                      </a:r>
                    </a:p>
                  </a:txBody>
                  <a:tcPr/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B70"/>
                          </a:solidFill>
                          <a:latin typeface="Aptos"/>
                        </a:defRPr>
                      </a:pPr>
                      <a:r>
                        <a:t>Loan franchise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5B6770"/>
                          </a:solidFill>
                          <a:latin typeface="Aptos"/>
                        </a:defRPr>
                      </a:pPr>
                      <a:r>
                        <a:t>Leading syndicated loan execution</a:t>
                      </a:r>
                    </a:p>
                  </a:txBody>
                  <a:tcPr/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3B70"/>
                          </a:solidFill>
                          <a:latin typeface="Aptos"/>
                        </a:defRPr>
                      </a:pPr>
                      <a:r>
                        <a:t>Support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5B6770"/>
                          </a:solidFill>
                          <a:latin typeface="Aptos"/>
                        </a:defRPr>
                      </a:pPr>
                      <a:r>
                        <a:t>Always-on relationship coverage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ci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420" y="164592"/>
            <a:ext cx="914400" cy="5961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603504"/>
            <a:ext cx="147309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03B70"/>
                </a:solidFill>
                <a:latin typeface="Aptos Display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463040"/>
            <a:ext cx="1280160" cy="45720"/>
          </a:xfrm>
          <a:prstGeom prst="rect">
            <a:avLst/>
          </a:prstGeom>
          <a:solidFill>
            <a:srgbClr val="EE2A24"/>
          </a:solidFill>
          <a:ln>
            <a:solidFill>
              <a:srgbClr val="EE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" y="2194560"/>
            <a:ext cx="4668865" cy="347472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" y="2560320"/>
            <a:ext cx="658368" cy="658368"/>
          </a:xfrm>
          <a:prstGeom prst="ellipse">
            <a:avLst/>
          </a:prstGeom>
          <a:solidFill>
            <a:srgbClr val="EE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3520440"/>
            <a:ext cx="393734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03B70"/>
                </a:solidFill>
                <a:latin typeface="Aptos Display"/>
              </a:defRPr>
            </a:pPr>
            <a:r>
              <a:t>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4023360"/>
            <a:ext cx="3937345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b="0" sz="1600">
                <a:solidFill>
                  <a:srgbClr val="5B6770"/>
                </a:solidFill>
                <a:latin typeface="Aptos"/>
              </a:rPr>
              <a:t>Term sheet by June 30.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93577" y="2194560"/>
            <a:ext cx="4668865" cy="347472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59337" y="2560320"/>
            <a:ext cx="658368" cy="658368"/>
          </a:xfrm>
          <a:prstGeom prst="ellipse">
            <a:avLst/>
          </a:prstGeom>
          <a:solidFill>
            <a:srgbClr val="EE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9337" y="3520440"/>
            <a:ext cx="393734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03B70"/>
                </a:solidFill>
                <a:latin typeface="Aptos Display"/>
              </a:defRPr>
            </a:pPr>
            <a:r>
              <a:t>Approve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9337" y="4023360"/>
            <a:ext cx="3937345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b="0" sz="1600">
                <a:solidFill>
                  <a:srgbClr val="5B6770"/>
                </a:solidFill>
                <a:latin typeface="Aptos"/>
              </a:rPr>
              <a:t>Credit committee in Q3.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28202" y="2194560"/>
            <a:ext cx="4668865" cy="347472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93962" y="2560320"/>
            <a:ext cx="658368" cy="658368"/>
          </a:xfrm>
          <a:prstGeom prst="ellipse">
            <a:avLst/>
          </a:prstGeom>
          <a:solidFill>
            <a:srgbClr val="EE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93962" y="3520440"/>
            <a:ext cx="393734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03B70"/>
                </a:solidFill>
                <a:latin typeface="Aptos Display"/>
              </a:defRPr>
            </a:pPr>
            <a:r>
              <a:t>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3962" y="4023360"/>
            <a:ext cx="3937345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b="0" sz="1600">
                <a:solidFill>
                  <a:srgbClr val="5B6770"/>
                </a:solidFill>
                <a:latin typeface="Aptos"/>
              </a:rPr>
              <a:t>Target September 2026.</a:t>
            </a:r>
          </a:p>
        </p:txBody>
      </p:sp>
      <p:pic>
        <p:nvPicPr>
          <p:cNvPr id="16" name="Picture 15" descr="ci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420" y="164592"/>
            <a:ext cx="914400" cy="5961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2377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26A5F"/>
                </a:solidFill>
                <a:latin typeface="Aptos Display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2834640"/>
            <a:ext cx="11704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800" b="1">
                <a:solidFill>
                  <a:srgbClr val="F1F5F9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5074920"/>
            <a:ext cx="1371600" cy="54864"/>
          </a:xfrm>
          <a:prstGeom prst="rect">
            <a:avLst/>
          </a:prstGeom>
          <a:solidFill>
            <a:srgbClr val="F26A5F"/>
          </a:solidFill>
          <a:ln>
            <a:solidFill>
              <a:srgbClr val="F2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534924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9FADBD"/>
                </a:solidFill>
                <a:latin typeface="Aptos"/>
              </a:defRPr>
            </a:pPr>
            <a:r>
              <a:t>Questions and open discussion.</a:t>
            </a:r>
          </a:p>
        </p:txBody>
      </p:sp>
      <p:pic>
        <p:nvPicPr>
          <p:cNvPr id="6" name="Picture 5" descr="ci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420" y="164592"/>
            <a:ext cx="914400" cy="5961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