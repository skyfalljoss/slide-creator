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3B7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3B70"/>
                </a:solidFill>
                <a:latin typeface="Arial"/>
              </a:rPr>
              <a:t>TAM Growth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 ($B)</c:v>
                </c:pt>
              </c:strCache>
            </c:strRef>
          </c:tx>
          <c:spPr>
            <a:solidFill>
              <a:srgbClr val="003B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2029E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33</c:v>
                </c:pt>
                <c:pt idx="2">
                  <c:v>38</c:v>
                </c:pt>
                <c:pt idx="3">
                  <c:v>42</c:v>
                </c:pt>
                <c:pt idx="4">
                  <c:v>45</c:v>
                </c:pt>
                <c:pt idx="5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3B7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3B70"/>
                </a:solidFill>
                <a:latin typeface="Arial"/>
              </a:rPr>
              <a:t>Margin Expansion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B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510</c:v>
                </c:pt>
                <c:pt idx="2">
                  <c:v>620</c:v>
                </c:pt>
                <c:pt idx="3">
                  <c:v>720</c:v>
                </c:pt>
                <c:pt idx="4">
                  <c:v>810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 (%)</c:v>
                </c:pt>
              </c:strCache>
            </c:strRef>
          </c:tx>
          <c:spPr>
            <a:solidFill>
              <a:srgbClr val="00A3E0"/>
            </a:solidFill>
            <a:ln w="25400" cap="flat">
              <a:solidFill>
                <a:srgbClr val="00A3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3E0"/>
              </a:solidFill>
              <a:ln w="9525" cap="flat">
                <a:solidFill>
                  <a:srgbClr val="00A3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18.1</c:v>
                </c:pt>
                <c:pt idx="1">
                  <c:v>20</c:v>
                </c:pt>
                <c:pt idx="2">
                  <c:v>22.6</c:v>
                </c:pt>
                <c:pt idx="3">
                  <c:v>23.3</c:v>
                </c:pt>
                <c:pt idx="4">
                  <c:v>24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Investment Banking Presentation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558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 of TargetCo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622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1308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70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349500"/>
            <a:ext cx="1308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Industry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70000" y="2349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048000"/>
            <a:ext cx="1308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Financial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70000" y="3048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55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746500"/>
            <a:ext cx="1308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Valuation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970000" y="3746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254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445000"/>
            <a:ext cx="1308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Recommendation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970000" y="4445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953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Table of Contents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Overview: Strategic Acquisition of TargetCo Represents Compelling Value at 8.2x EBITDA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Summary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all-cash acquisition of TargetCo for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 billion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price represents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LTM EBITDA and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P/E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to be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accretive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EPS in Year 1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synergies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$85M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annually by Year 3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synergies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$45M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annually, 70% achievable by Year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74000" y="1651000"/>
            <a:ext cx="0" cy="6477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255000" y="1651000"/>
            <a:ext cx="7239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Structure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financed through combination of: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Cash on hand: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$400M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New debt issuance: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$800M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Impact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Post-transaction leverage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 Debt/EBITDA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Deleveraging to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Year 3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ROIC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exceeds WACC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8382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Citi Research estimates; Company filings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00000" y="838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Executive Summary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Landscape &amp; Competitive Position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Industry Overview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Addressable Market Expanding at 12% CAGR, Driven by Digital Transformation and Regulatory Tailwinds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762000" y="1651000"/>
          <a:ext cx="6858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74000" y="1651000"/>
            <a:ext cx="0" cy="3683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8255000" y="1651000"/>
            <a:ext cx="7239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Growth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$45B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(2025) →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$71B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(2029E), 12% CAGR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$18B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concentrated in NA and Europe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Growth Drivers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digital transformation accelerating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requirements increasing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demand for integrated solutions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5461000"/>
            <a:ext cx="14732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fragmented: top 5 players hold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share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TargetCo holds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position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share, up from 5% in 2021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 to entry increasing due to compliance requirements and scale 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8382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Gartner Industry Report 2025; IDC Marketscape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700000" y="838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Industry Overview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Performance &amp; Projections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Financial Analysis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TargetCo Has Delivered Consistent Revenue Growth of 18% CAGR (2021-2025) with Expanding Margins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1915160"/>
                <a:gridCol w="1915160"/>
                <a:gridCol w="1915160"/>
                <a:gridCol w="1915160"/>
                <a:gridCol w="1915160"/>
                <a:gridCol w="191516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($M)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62000" y="5334000"/>
          <a:ext cx="6858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874000" y="5334000"/>
            <a:ext cx="0" cy="2794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7" name="Text 3"/>
          <p:cNvSpPr/>
          <p:nvPr/>
        </p:nvSpPr>
        <p:spPr>
          <a:xfrm>
            <a:off x="8255000" y="5334000"/>
            <a:ext cx="723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expanded from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improved from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conversion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net income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averaging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revenue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62000" y="8382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TargetCo 10-K filings; Citi estimates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2700000" y="838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Financial Analysis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Remains Underleveraged at 0.8x Net Debt/EBITDA, Providing Significant Acquisition Capacity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8890000" cy="3302000"/>
        </p:xfrm>
        <a:graphic>
          <a:graphicData uri="http://schemas.openxmlformats.org/drawingml/2006/table">
            <a:tbl>
              <a:tblPr/>
              <a:tblGrid>
                <a:gridCol w="3556000"/>
                <a:gridCol w="1778000"/>
                <a:gridCol w="1778000"/>
                <a:gridCol w="1778000"/>
              </a:tblGrid>
              <a:tr h="528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Sheet ($M)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Assets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Assets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PP&amp;E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Intangibles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Liabilities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Equity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906000" y="1587500"/>
            <a:ext cx="0" cy="3302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287000" y="1587500"/>
            <a:ext cx="520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Structure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Debt: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$185M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&amp; Equivalents: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$32M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$153M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Debt/EBITDA: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0.8x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Undrawn RCF: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$400M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coverage: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1473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Comparison vs. Industry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TargetCo's Net Debt/EBITDA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compares favorably to industry median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2.4x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coverage ratio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provides substantial cushion vs. covenant threshold of 3.0x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acquisition capacity of approximately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$600M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reaching 2.5x leverage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credit profile supports investment grade rating trajectory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8382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TargetCo 10-K filings; Company presentations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700000" y="838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Financial Analysis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Company Analysis &amp; DCF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Valuation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Company Analysis Supports Valuation Range of $1.1B-$1.4B, with TargetCo Trading at Discount to Peers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9906000" cy="3937000"/>
        </p:xfrm>
        <a:graphic>
          <a:graphicData uri="http://schemas.openxmlformats.org/drawingml/2006/table">
            <a:tbl>
              <a:tblPr/>
              <a:tblGrid>
                <a:gridCol w="1981200"/>
                <a:gridCol w="1584960"/>
                <a:gridCol w="1584960"/>
                <a:gridCol w="1584960"/>
                <a:gridCol w="1584960"/>
                <a:gridCol w="158496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($M)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($M)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EV/Rev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EV/EBITDA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22000" y="1587500"/>
            <a:ext cx="0" cy="6477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1303000" y="1587500"/>
            <a:ext cx="4191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Valuation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mean multiples: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$1,165M - $1,330M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median multiples: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$1,165M - $1,340M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Applied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control premium for strategic acquisition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Range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$1.1B - $1.4B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5715000"/>
            <a:ext cx="990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purchase price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$1,200M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EBITDA falls within range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discount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peer mean EV/EBITDA of 12.0x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justified by TargetCo's smaller scale and lower margins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Synergy-adjusted multiple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6.5x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highly attractive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8382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Capital IQ; Bloomberg; Citi estimates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700000" y="838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Valuation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Rationale &amp; Next 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0" y="8763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Recommendation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 Recommends Proceeding with Acquisition; Strong Strategic Rationale with Attractive Risk-Adjusted Returns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4732000" cy="25400"/>
          </a:xfrm>
          <a:prstGeom prst="rect">
            <a:avLst/>
          </a:prstGeom>
          <a:solidFill>
            <a:srgbClr val="003B7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87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Benefits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006600"/>
            <a:ext cx="469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market position from #5 to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portfolio with complementary tech stack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 opportunities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annually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Talent: 850 engineers + 200 sales professionals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51500" y="1587500"/>
            <a:ext cx="0" cy="3175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842000" y="1587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Attractiveness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42000" y="2006600"/>
            <a:ext cx="4699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EPS accretive in Year 1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EPS accretive by Year 3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ROIC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exceeds WACC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 of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years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31500" y="1587500"/>
            <a:ext cx="0" cy="3175000"/>
          </a:xfrm>
          <a:prstGeom prst="straightConnector1">
            <a:avLst/>
          </a:prstGeom>
          <a:noFill/>
          <a:ln w="12700">
            <a:solidFill>
              <a:srgbClr val="003B7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922000" y="1587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22000" y="20066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execution risk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Mitigated by experienced management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concentration (top 10: 35%)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Retention plans in place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Regulatory/HSR approval required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material antitrust concerns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953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514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5626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approval and announcement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30 days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Commence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confirmatory due diligence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immediately following announcement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definitive purchase agreement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customary representations and warranties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by Q4 2026</a:t>
            </a:r>
            <a:pPr algn="l"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subject to regulatory approvals and customary conditions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382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Citi analysis; Management discussions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00000" y="838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Recommendation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556000"/>
            <a:ext cx="2540000" cy="50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381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8000" y="4889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or further analysis, please contact the Citi Advisory Team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8000" y="6096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PPTW Format - Sample Investment Banking Presentation</dc:title>
  <dc:subject>Citi PPTW Format - Sample Investment Banking Presentation</dc:subject>
  <dc:creator>Kimi</dc:creator>
  <cp:lastModifiedBy>Kimi</cp:lastModifiedBy>
  <cp:revision>1</cp:revision>
  <dcterms:created xsi:type="dcterms:W3CDTF">2026-06-17T04:53:14Z</dcterms:created>
  <dcterms:modified xsi:type="dcterms:W3CDTF">2026-06-17T04:53:14Z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{"Label":"Citi PPTW Format - Sample Investment Banking Presentation","ContentProducer":"001191110108MACG2KBH8F10000","ProduceID":"19ed3ba6-2bd2-89c0-8000-000051b12f38","ReservedCode1":"","ContentPropagator":"001191110108MACG2KBH8F20000","PropagateID":"19ed3b84-b112-8fec-8000-09daf7aca98f","ReservedCode2":""}</vt:lpwstr>
  </property>
</Properties>
</file>